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7772400" cy="10058400"/>
  <p:notesSz cx="6858000" cy="9144000"/>
  <p:embeddedFontLst>
    <p:embeddedFont>
      <p:font typeface="Cambria" charset="1" panose="02040503050406030204"/>
      <p:regular r:id="rId8"/>
    </p:embeddedFont>
    <p:embeddedFont>
      <p:font typeface="Times New Roman Bold" charset="1" panose="02020803070505020304"/>
      <p:regular r:id="rId9"/>
    </p:embeddedFont>
    <p:embeddedFont>
      <p:font typeface="Times New Roman" charset="1" panose="02020603050405020304"/>
      <p:regular r:id="rId10"/>
    </p:embeddedFont>
    <p:embeddedFont>
      <p:font typeface="Cambria Bold" charset="1" panose="02040803050406030204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2121" y="1677038"/>
            <a:ext cx="6905311" cy="1953263"/>
          </a:xfrm>
          <a:custGeom>
            <a:avLst/>
            <a:gdLst/>
            <a:ahLst/>
            <a:cxnLst/>
            <a:rect r="r" b="b" t="t" l="l"/>
            <a:pathLst>
              <a:path h="1953263" w="6905311">
                <a:moveTo>
                  <a:pt x="0" y="0"/>
                </a:moveTo>
                <a:lnTo>
                  <a:pt x="6905310" y="0"/>
                </a:lnTo>
                <a:lnTo>
                  <a:pt x="6905310" y="1953263"/>
                </a:lnTo>
                <a:lnTo>
                  <a:pt x="0" y="19532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2121" y="3728723"/>
            <a:ext cx="6905311" cy="873376"/>
          </a:xfrm>
          <a:custGeom>
            <a:avLst/>
            <a:gdLst/>
            <a:ahLst/>
            <a:cxnLst/>
            <a:rect r="r" b="b" t="t" l="l"/>
            <a:pathLst>
              <a:path h="873376" w="6905311">
                <a:moveTo>
                  <a:pt x="0" y="0"/>
                </a:moveTo>
                <a:lnTo>
                  <a:pt x="6905310" y="0"/>
                </a:lnTo>
                <a:lnTo>
                  <a:pt x="6905310" y="873376"/>
                </a:lnTo>
                <a:lnTo>
                  <a:pt x="0" y="8733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82269" y="9419758"/>
            <a:ext cx="3099378" cy="194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64737D"/>
                </a:solidFill>
                <a:latin typeface="Cambria"/>
                <a:ea typeface="Cambria"/>
                <a:cs typeface="Cambria"/>
                <a:sym typeface="Cambria"/>
              </a:rPr>
              <a:t>SIMATS ENGINEERING | Assessment Tool 1 – CO2 | C Programming</a:t>
            </a:r>
            <a:r>
              <a:rPr lang="en-US" sz="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92907" y="290103"/>
            <a:ext cx="4506697" cy="589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9"/>
              </a:lnSpc>
            </a:pPr>
            <a:r>
              <a:rPr lang="en-US" b="true" sz="1100">
                <a:solidFill>
                  <a:srgbClr val="1F4E7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SIMATS ENGINEERING (SAVEETHA SCHOOL OF ENGINEERING)</a:t>
            </a:r>
            <a:r>
              <a:rPr lang="en-US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true" sz="1100">
                <a:solidFill>
                  <a:srgbClr val="2E75B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Department of Computer Science and Engineering</a:t>
            </a:r>
            <a:r>
              <a:rPr lang="en-US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01968" y="1031396"/>
            <a:ext cx="31347" cy="195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12413" y="1228239"/>
            <a:ext cx="3241872" cy="453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b="true" sz="1100">
                <a:solidFill>
                  <a:srgbClr val="17365D"/>
                </a:solidFill>
                <a:latin typeface="Cambria Bold"/>
                <a:ea typeface="Cambria Bold"/>
                <a:cs typeface="Cambria Bold"/>
                <a:sym typeface="Cambria Bold"/>
              </a:rPr>
              <a:t>CO5 ASSESSMENT TOOL 1 – DEBU</a:t>
            </a:r>
            <a:r>
              <a:rPr lang="en-US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GGING &amp; OPTIMIZATION </a:t>
            </a:r>
            <a:r>
              <a:rPr lang="en-US" b="true" sz="1100">
                <a:solidFill>
                  <a:srgbClr val="00A6A6"/>
                </a:solidFill>
                <a:latin typeface="Cambria Bold"/>
                <a:ea typeface="Cambria Bold"/>
                <a:cs typeface="Cambria Bold"/>
                <a:sym typeface="Cambria Bold"/>
              </a:rPr>
              <a:t>CO5AT2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1814" y="1673000"/>
            <a:ext cx="880158" cy="544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25"/>
              </a:lnSpc>
            </a:pPr>
            <a:r>
              <a:rPr lang="en-US" b="true" sz="1100">
                <a:solidFill>
                  <a:srgbClr val="232D37"/>
                </a:solidFill>
                <a:latin typeface="Cambria Bold"/>
                <a:ea typeface="Cambria Bold"/>
                <a:cs typeface="Cambria Bold"/>
                <a:sym typeface="Cambria Bold"/>
              </a:rPr>
              <a:t>Course Code:</a:t>
            </a:r>
            <a:r>
              <a:rPr lang="en-US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b="true" sz="1100">
                <a:solidFill>
                  <a:srgbClr val="232D37"/>
                </a:solidFill>
                <a:latin typeface="Cambria Bold"/>
                <a:ea typeface="Cambria Bold"/>
                <a:cs typeface="Cambria Bold"/>
                <a:sym typeface="Cambria Bold"/>
              </a:rPr>
              <a:t>Course Title:</a:t>
            </a:r>
            <a:r>
              <a:rPr lang="en-US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957704" y="1673000"/>
            <a:ext cx="3266675" cy="1729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5"/>
              </a:lnSpc>
            </a:pPr>
            <a:r>
              <a:rPr lang="en-US" sz="1100">
                <a:solidFill>
                  <a:srgbClr val="232D37"/>
                </a:solidFill>
                <a:latin typeface="Cambria"/>
                <a:ea typeface="Cambria"/>
                <a:cs typeface="Cambria"/>
                <a:sym typeface="Cambria"/>
              </a:rPr>
              <a:t>CSA0201</a:t>
            </a:r>
          </a:p>
          <a:p>
            <a:pPr algn="l">
              <a:lnSpc>
                <a:spcPts val="2225"/>
              </a:lnSpc>
            </a:pPr>
            <a:r>
              <a:rPr lang="en-US" sz="1100">
                <a:solidFill>
                  <a:srgbClr val="232D37"/>
                </a:solidFill>
                <a:latin typeface="Cambria"/>
                <a:ea typeface="Cambria"/>
                <a:cs typeface="Cambria"/>
                <a:sym typeface="Cambria"/>
              </a:rPr>
              <a:t>C Programming</a:t>
            </a:r>
            <a:r>
              <a:rPr lang="en-US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</a:p>
          <a:p>
            <a:pPr algn="l">
              <a:lnSpc>
                <a:spcPts val="1824"/>
              </a:lnSpc>
            </a:pPr>
            <a:r>
              <a:rPr lang="en-US" sz="1100">
                <a:solidFill>
                  <a:srgbClr val="232D37"/>
                </a:solidFill>
                <a:latin typeface="Cambria"/>
                <a:ea typeface="Cambria"/>
                <a:cs typeface="Cambria"/>
                <a:sym typeface="Cambria"/>
              </a:rPr>
              <a:t>CO5	Design modular and scalable C programs using functions, recursion, pointers, and file handling.</a:t>
            </a:r>
          </a:p>
          <a:p>
            <a:pPr algn="l">
              <a:lnSpc>
                <a:spcPts val="1480"/>
              </a:lnSpc>
            </a:pPr>
            <a:r>
              <a:rPr lang="en-US" sz="1100">
                <a:solidFill>
                  <a:srgbClr val="232D37"/>
                </a:solidFill>
                <a:latin typeface="Cambria"/>
                <a:ea typeface="Cambria"/>
                <a:cs typeface="Cambria"/>
                <a:sym typeface="Cambria"/>
              </a:rPr>
              <a:t>Assessment Tool 1 – Level 1 &amp; Viva Voce</a:t>
            </a:r>
            <a:r>
              <a:rPr lang="en-US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</a:p>
          <a:p>
            <a:pPr algn="l">
              <a:lnSpc>
                <a:spcPts val="2668"/>
              </a:lnSpc>
            </a:pPr>
            <a:r>
              <a:rPr lang="en-US" sz="1100" spc="1">
                <a:solidFill>
                  <a:srgbClr val="232D37"/>
                </a:solidFill>
                <a:latin typeface="Cambria"/>
                <a:ea typeface="Cambria"/>
                <a:cs typeface="Cambria"/>
                <a:sym typeface="Cambria"/>
              </a:rPr>
              <a:t>20%</a:t>
            </a:r>
            <a:r>
              <a:rPr lang="en-US" sz="1100" spc="1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</a:p>
          <a:p>
            <a:pPr algn="l">
              <a:lnSpc>
                <a:spcPts val="1384"/>
              </a:lnSpc>
            </a:pPr>
            <a:r>
              <a:rPr lang="en-US" sz="1100">
                <a:solidFill>
                  <a:srgbClr val="232D37"/>
                </a:solidFill>
                <a:latin typeface="Cambria"/>
                <a:ea typeface="Cambria"/>
                <a:cs typeface="Cambria"/>
                <a:sym typeface="Cambria"/>
              </a:rPr>
              <a:t>100</a:t>
            </a:r>
            <a:r>
              <a:rPr lang="en-US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71814" y="2330606"/>
            <a:ext cx="873681" cy="1198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b="true" sz="1100">
                <a:solidFill>
                  <a:srgbClr val="232D37"/>
                </a:solidFill>
                <a:latin typeface="Cambria Bold"/>
                <a:ea typeface="Cambria Bold"/>
                <a:cs typeface="Cambria Bold"/>
                <a:sym typeface="Cambria Bold"/>
              </a:rPr>
              <a:t>CO Assessed:</a:t>
            </a:r>
            <a:r>
              <a:rPr lang="en-US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b="true" sz="1100">
                <a:solidFill>
                  <a:srgbClr val="232D37"/>
                </a:solidFill>
                <a:latin typeface="Cambria Bold"/>
                <a:ea typeface="Cambria Bold"/>
                <a:cs typeface="Cambria Bold"/>
                <a:sym typeface="Cambria Bold"/>
              </a:rPr>
              <a:t>Assessment:</a:t>
            </a:r>
            <a:r>
              <a:rPr lang="en-US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</a:p>
          <a:p>
            <a:pPr algn="l">
              <a:lnSpc>
                <a:spcPts val="1400"/>
              </a:lnSpc>
            </a:pPr>
            <a:r>
              <a:rPr lang="en-US" b="true" sz="1100" spc="1">
                <a:solidFill>
                  <a:srgbClr val="232D37"/>
                </a:solidFill>
                <a:latin typeface="Cambria Bold"/>
                <a:ea typeface="Cambria Bold"/>
                <a:cs typeface="Cambria Bold"/>
                <a:sym typeface="Cambria Bold"/>
              </a:rPr>
              <a:t>Weightage:</a:t>
            </a:r>
            <a:r>
              <a:rPr lang="en-US" sz="1100" spc="1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</a:p>
          <a:p>
            <a:pPr algn="l">
              <a:lnSpc>
                <a:spcPts val="2654"/>
              </a:lnSpc>
            </a:pPr>
            <a:r>
              <a:rPr lang="en-US" b="true" sz="1100">
                <a:solidFill>
                  <a:srgbClr val="232D37"/>
                </a:solidFill>
                <a:latin typeface="Cambria Bold"/>
                <a:ea typeface="Cambria Bold"/>
                <a:cs typeface="Cambria Bold"/>
                <a:sym typeface="Cambria Bold"/>
              </a:rPr>
              <a:t>Total Marks:</a:t>
            </a:r>
            <a:r>
              <a:rPr lang="en-US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71814" y="3746906"/>
            <a:ext cx="993505" cy="757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100">
                <a:solidFill>
                  <a:srgbClr val="232D37"/>
                </a:solidFill>
                <a:latin typeface="Cambria"/>
                <a:ea typeface="Cambria"/>
                <a:cs typeface="Cambria"/>
                <a:sym typeface="Cambria"/>
              </a:rPr>
              <a:t>Student Name:</a:t>
            </a:r>
            <a:r>
              <a:rPr lang="en-US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1100">
                <a:solidFill>
                  <a:srgbClr val="232D37"/>
                </a:solidFill>
                <a:latin typeface="Cambria"/>
                <a:ea typeface="Cambria"/>
                <a:cs typeface="Cambria"/>
                <a:sym typeface="Cambria"/>
              </a:rPr>
              <a:t>Reg. No.:</a:t>
            </a:r>
            <a:r>
              <a:rPr lang="en-US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1100">
                <a:solidFill>
                  <a:srgbClr val="232D37"/>
                </a:solidFill>
                <a:latin typeface="Cambria"/>
                <a:ea typeface="Cambria"/>
                <a:cs typeface="Cambria"/>
                <a:sym typeface="Cambria"/>
              </a:rPr>
              <a:t>Section / Batch:</a:t>
            </a:r>
            <a:r>
              <a:rPr lang="en-US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957704" y="4308881"/>
            <a:ext cx="352215" cy="195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232D37"/>
                </a:solidFill>
                <a:latin typeface="Cambria"/>
                <a:ea typeface="Cambria"/>
                <a:cs typeface="Cambria"/>
                <a:sym typeface="Cambria"/>
              </a:rPr>
              <a:t>Date:</a:t>
            </a:r>
            <a:r>
              <a:rPr lang="en-US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01968" y="4737764"/>
            <a:ext cx="1084183" cy="195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b="true" sz="1100" spc="1">
                <a:solidFill>
                  <a:srgbClr val="17365D"/>
                </a:solidFill>
                <a:latin typeface="Cambria Bold"/>
                <a:ea typeface="Cambria Bold"/>
                <a:cs typeface="Cambria Bold"/>
                <a:sym typeface="Cambria Bold"/>
              </a:rPr>
              <a:t>Code of Conduct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01968" y="5198135"/>
            <a:ext cx="6838093" cy="789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2"/>
              </a:lnSpc>
            </a:pPr>
            <a:r>
              <a:rPr lang="en-US" sz="1100">
                <a:solidFill>
                  <a:srgbClr val="232D37"/>
                </a:solidFill>
                <a:latin typeface="Cambria"/>
                <a:ea typeface="Cambria"/>
                <a:cs typeface="Cambria"/>
                <a:sym typeface="Cambria"/>
              </a:rPr>
              <a:t>I ______________________________________________________________________________________________ (Name / Reg No) certify that this submission is my original work and that I have adhered to the guidelines specified for this assessment. I understand that any violation of academic integrity rules will result in disciplinary action.</a:t>
            </a:r>
            <a:r>
              <a:rPr lang="en-US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</a:p>
          <a:p>
            <a:pPr algn="l">
              <a:lnSpc>
                <a:spcPts val="2028"/>
              </a:lnSpc>
            </a:pPr>
            <a:r>
              <a:rPr lang="en-US" sz="1100">
                <a:solidFill>
                  <a:srgbClr val="232D37"/>
                </a:solidFill>
                <a:latin typeface="Cambria"/>
                <a:ea typeface="Cambria"/>
                <a:cs typeface="Cambria"/>
                <a:sym typeface="Cambria"/>
              </a:rPr>
              <a:t>Signature of the Student: _________________________</a:t>
            </a:r>
            <a:r>
              <a:rPr lang="en-US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01968" y="6227216"/>
            <a:ext cx="6747377" cy="153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8"/>
              </a:lnSpc>
            </a:pPr>
            <a:r>
              <a:rPr lang="en-US" b="true" sz="1100">
                <a:solidFill>
                  <a:srgbClr val="17365D"/>
                </a:solidFill>
                <a:latin typeface="Cambria Bold"/>
                <a:ea typeface="Cambria Bold"/>
                <a:cs typeface="Cambria Bold"/>
                <a:sym typeface="Cambria Bold"/>
              </a:rPr>
              <a:t>Instructions</a:t>
            </a:r>
            <a:r>
              <a:rPr lang="en-US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</a:p>
          <a:p>
            <a:pPr algn="l">
              <a:lnSpc>
                <a:spcPts val="1788"/>
              </a:lnSpc>
            </a:pPr>
            <a:r>
              <a:rPr lang="en-US" sz="1100">
                <a:solidFill>
                  <a:srgbClr val="232D37"/>
                </a:solidFill>
                <a:latin typeface="Cambria"/>
                <a:ea typeface="Cambria"/>
                <a:cs typeface="Cambria"/>
                <a:sym typeface="Cambria"/>
              </a:rPr>
              <a:t>•This assessment covers Level 1 and Viva Voce evaluation. Total: 100 Marks.</a:t>
            </a:r>
            <a:r>
              <a:rPr lang="en-US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</a:p>
          <a:p>
            <a:pPr algn="l">
              <a:lnSpc>
                <a:spcPts val="1788"/>
              </a:lnSpc>
            </a:pPr>
            <a:r>
              <a:rPr lang="en-US" sz="1100">
                <a:solidFill>
                  <a:srgbClr val="232D37"/>
                </a:solidFill>
                <a:latin typeface="Cambria"/>
                <a:ea typeface="Cambria"/>
                <a:cs typeface="Cambria"/>
                <a:sym typeface="Cambria"/>
              </a:rPr>
              <a:t>•Students should develop correct and well-structured logic for the given problem.</a:t>
            </a:r>
            <a:r>
              <a:rPr lang="en-US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</a:p>
          <a:p>
            <a:pPr algn="l">
              <a:lnSpc>
                <a:spcPts val="1788"/>
              </a:lnSpc>
            </a:pPr>
            <a:r>
              <a:rPr lang="en-US" sz="1100">
                <a:solidFill>
                  <a:srgbClr val="232D37"/>
                </a:solidFill>
                <a:latin typeface="Cambria"/>
                <a:ea typeface="Cambria"/>
                <a:cs typeface="Cambria"/>
                <a:sym typeface="Cambria"/>
              </a:rPr>
              <a:t>•Students should demonstrate correct syntax and semantics, consider time and space complexity, and validate </a:t>
            </a:r>
          </a:p>
          <a:p>
            <a:pPr algn="l">
              <a:lnSpc>
                <a:spcPts val="1123"/>
              </a:lnSpc>
            </a:pPr>
            <a:r>
              <a:rPr lang="en-US" sz="1100" spc="1">
                <a:solidFill>
                  <a:srgbClr val="232D37"/>
                </a:solidFill>
                <a:latin typeface="Cambria"/>
                <a:ea typeface="Cambria"/>
                <a:cs typeface="Cambria"/>
                <a:sym typeface="Cambria"/>
              </a:rPr>
              <a:t>solutions using test cases.</a:t>
            </a:r>
            <a:r>
              <a:rPr lang="en-US" sz="1100" spc="1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</a:p>
          <a:p>
            <a:pPr algn="l">
              <a:lnSpc>
                <a:spcPts val="2433"/>
              </a:lnSpc>
            </a:pPr>
            <a:r>
              <a:rPr lang="en-US" sz="1100">
                <a:solidFill>
                  <a:srgbClr val="232D37"/>
                </a:solidFill>
                <a:latin typeface="Cambria"/>
                <a:ea typeface="Cambria"/>
                <a:cs typeface="Cambria"/>
                <a:sym typeface="Cambria"/>
              </a:rPr>
              <a:t>•Students should explain their logic, code, and concepts clearly during the viva voce.</a:t>
            </a:r>
            <a:r>
              <a:rPr lang="en-US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</a:p>
          <a:p>
            <a:pPr algn="l">
              <a:lnSpc>
                <a:spcPts val="1167"/>
              </a:lnSpc>
            </a:pPr>
            <a:r>
              <a:rPr lang="en-US" sz="1100">
                <a:solidFill>
                  <a:srgbClr val="232D37"/>
                </a:solidFill>
                <a:latin typeface="Cambria"/>
                <a:ea typeface="Cambria"/>
                <a:cs typeface="Cambria"/>
                <a:sym typeface="Cambria"/>
              </a:rPr>
              <a:t>•No negative marking. Unanswered questions carry zero marks.</a:t>
            </a:r>
            <a:r>
              <a:rPr lang="en-US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2121" y="6625209"/>
            <a:ext cx="6905311" cy="949709"/>
          </a:xfrm>
          <a:custGeom>
            <a:avLst/>
            <a:gdLst/>
            <a:ahLst/>
            <a:cxnLst/>
            <a:rect r="r" b="b" t="t" l="l"/>
            <a:pathLst>
              <a:path h="949709" w="6905311">
                <a:moveTo>
                  <a:pt x="0" y="0"/>
                </a:moveTo>
                <a:lnTo>
                  <a:pt x="6905310" y="0"/>
                </a:lnTo>
                <a:lnTo>
                  <a:pt x="6905310" y="949709"/>
                </a:lnTo>
                <a:lnTo>
                  <a:pt x="0" y="9497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6319" y="565637"/>
            <a:ext cx="7004544" cy="5333070"/>
          </a:xfrm>
          <a:custGeom>
            <a:avLst/>
            <a:gdLst/>
            <a:ahLst/>
            <a:cxnLst/>
            <a:rect r="r" b="b" t="t" l="l"/>
            <a:pathLst>
              <a:path h="5333070" w="7004544">
                <a:moveTo>
                  <a:pt x="0" y="0"/>
                </a:moveTo>
                <a:lnTo>
                  <a:pt x="7004544" y="0"/>
                </a:lnTo>
                <a:lnTo>
                  <a:pt x="7004544" y="5333071"/>
                </a:lnTo>
                <a:lnTo>
                  <a:pt x="0" y="53330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82269" y="9419758"/>
            <a:ext cx="3099378" cy="194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64737D"/>
                </a:solidFill>
                <a:latin typeface="Cambria"/>
                <a:ea typeface="Cambria"/>
                <a:cs typeface="Cambria"/>
                <a:sym typeface="Cambria"/>
              </a:rPr>
              <a:t>SIMATS ENGINEERING | Assessment Tool 1 – CO2 | C Programming</a:t>
            </a:r>
            <a:r>
              <a:rPr lang="en-US" sz="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62289" y="698021"/>
            <a:ext cx="536553" cy="195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b="true" sz="110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Criteria</a:t>
            </a:r>
            <a:r>
              <a:rPr lang="en-US" sz="1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62289" y="5252114"/>
            <a:ext cx="86343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Code quantity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62289" y="2292125"/>
            <a:ext cx="650224" cy="173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3"/>
              </a:lnSpc>
            </a:pPr>
            <a:r>
              <a:rPr lang="en-US" sz="1100" spc="2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Debugging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62289" y="4277135"/>
            <a:ext cx="656701" cy="1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2"/>
              </a:lnSpc>
            </a:pPr>
            <a:r>
              <a:rPr lang="en-US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Analysis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62289" y="3295802"/>
            <a:ext cx="856250" cy="167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7"/>
              </a:lnSpc>
            </a:pPr>
            <a:r>
              <a:rPr lang="en-US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Optimization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62289" y="1310792"/>
            <a:ext cx="844534" cy="329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7"/>
              </a:lnSpc>
            </a:pPr>
            <a:r>
              <a:rPr lang="en-US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Problem</a:t>
            </a:r>
          </a:p>
          <a:p>
            <a:pPr algn="l">
              <a:lnSpc>
                <a:spcPts val="1277"/>
              </a:lnSpc>
            </a:pPr>
            <a:r>
              <a:rPr lang="en-US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identification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71814" y="6687845"/>
            <a:ext cx="1479671" cy="665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1"/>
              </a:lnSpc>
            </a:pPr>
            <a:r>
              <a:rPr lang="en-US" b="true" sz="110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Faculty In-charge</a:t>
            </a:r>
            <a:r>
              <a:rPr lang="en-US" sz="1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</a:p>
          <a:p>
            <a:pPr algn="l" rtl="true">
              <a:lnSpc>
                <a:spcPts val="1301"/>
              </a:lnSpc>
            </a:pPr>
          </a:p>
          <a:p>
            <a:pPr algn="l">
              <a:lnSpc>
                <a:spcPts val="1301"/>
              </a:lnSpc>
            </a:pPr>
            <a:r>
              <a:rPr lang="en-US" sz="1100">
                <a:solidFill>
                  <a:srgbClr val="232D37"/>
                </a:solidFill>
                <a:latin typeface="Cambria"/>
                <a:ea typeface="Cambria"/>
                <a:cs typeface="Cambria"/>
                <a:sym typeface="Cambria"/>
              </a:rPr>
              <a:t>Signature: _______________ Date: ___________________</a:t>
            </a:r>
            <a:r>
              <a:rPr lang="en-US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89735" y="1365018"/>
            <a:ext cx="279854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 spc="2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20%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89735" y="2355999"/>
            <a:ext cx="279854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 spc="2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25%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89735" y="3350028"/>
            <a:ext cx="316725" cy="195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 spc="2">
                <a:solidFill>
                  <a:srgbClr val="232D37"/>
                </a:solidFill>
                <a:latin typeface="Cambria"/>
                <a:ea typeface="Cambria"/>
                <a:cs typeface="Cambria"/>
                <a:sym typeface="Cambria"/>
              </a:rPr>
              <a:t>20%</a:t>
            </a:r>
            <a:r>
              <a:rPr lang="en-US" sz="1100" spc="2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89735" y="4340885"/>
            <a:ext cx="316725" cy="195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 spc="2">
                <a:solidFill>
                  <a:srgbClr val="232D37"/>
                </a:solidFill>
                <a:latin typeface="Cambria"/>
                <a:ea typeface="Cambria"/>
                <a:cs typeface="Cambria"/>
                <a:sym typeface="Cambria"/>
              </a:rPr>
              <a:t>20%</a:t>
            </a:r>
            <a:r>
              <a:rPr lang="en-US" sz="1100" spc="2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89735" y="5252114"/>
            <a:ext cx="316725" cy="195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 spc="2">
                <a:solidFill>
                  <a:srgbClr val="232D37"/>
                </a:solidFill>
                <a:latin typeface="Cambria"/>
                <a:ea typeface="Cambria"/>
                <a:cs typeface="Cambria"/>
                <a:sym typeface="Cambria"/>
              </a:rPr>
              <a:t>15%</a:t>
            </a:r>
            <a:r>
              <a:rPr lang="en-US" sz="1100" spc="2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89735" y="698021"/>
            <a:ext cx="724776" cy="195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b="true" sz="110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Weightage</a:t>
            </a:r>
            <a:r>
              <a:rPr lang="en-US" sz="1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747648" y="383696"/>
            <a:ext cx="2354390" cy="195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b="true" sz="1100">
                <a:solidFill>
                  <a:srgbClr val="17365D"/>
                </a:solidFill>
                <a:latin typeface="Cambria Bold"/>
                <a:ea typeface="Cambria Bold"/>
                <a:cs typeface="Cambria Bold"/>
                <a:sym typeface="Cambria Bold"/>
              </a:rPr>
              <a:t>RUBRICS FOR LEVEL 1 &amp; VIVA VOCE</a:t>
            </a:r>
            <a:r>
              <a:rPr lang="en-US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817495" y="637689"/>
            <a:ext cx="1012136" cy="5315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2"/>
              </a:lnSpc>
            </a:pPr>
            <a:r>
              <a:rPr lang="en-US" sz="1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1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Exemplary</a:t>
            </a:r>
            <a:r>
              <a:rPr lang="en-US" sz="1100">
                <a:solidFill>
                  <a:srgbClr val="232D37"/>
                </a:solidFill>
                <a:latin typeface="Cambria"/>
                <a:ea typeface="Cambria"/>
                <a:cs typeface="Cambria"/>
                <a:sym typeface="Cambria"/>
              </a:rPr>
              <a:t>	</a:t>
            </a:r>
          </a:p>
          <a:p>
            <a:pPr algn="l">
              <a:lnSpc>
                <a:spcPts val="1342"/>
              </a:lnSpc>
            </a:pPr>
          </a:p>
          <a:p>
            <a:pPr algn="l">
              <a:lnSpc>
                <a:spcPts val="1342"/>
              </a:lnSpc>
            </a:pPr>
            <a:r>
              <a:rPr lang="en-US" sz="1100">
                <a:solidFill>
                  <a:srgbClr val="232D37"/>
                </a:solidFill>
                <a:latin typeface="Cambria"/>
                <a:ea typeface="Cambria"/>
                <a:cs typeface="Cambria"/>
                <a:sym typeface="Cambria"/>
              </a:rPr>
              <a:t>Accurately identifies all errors and root causes with clear under</a:t>
            </a:r>
          </a:p>
          <a:p>
            <a:pPr algn="l">
              <a:lnSpc>
                <a:spcPts val="1342"/>
              </a:lnSpc>
            </a:pPr>
          </a:p>
          <a:p>
            <a:pPr algn="l">
              <a:lnSpc>
                <a:spcPts val="1342"/>
              </a:lnSpc>
            </a:pPr>
            <a:r>
              <a:rPr lang="en-US" sz="1100">
                <a:solidFill>
                  <a:srgbClr val="232D37"/>
                </a:solidFill>
                <a:latin typeface="Cambria"/>
                <a:ea typeface="Cambria"/>
                <a:cs typeface="Cambria"/>
                <a:sym typeface="Cambria"/>
              </a:rPr>
              <a:t>techniques effectively to resolve issues	Uses appropriate </a:t>
            </a:r>
          </a:p>
          <a:p>
            <a:pPr algn="l">
              <a:lnSpc>
                <a:spcPts val="1342"/>
              </a:lnSpc>
            </a:pPr>
            <a:r>
              <a:rPr lang="en-US" sz="1100">
                <a:solidFill>
                  <a:srgbClr val="232D37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</a:p>
          <a:p>
            <a:pPr algn="l">
              <a:lnSpc>
                <a:spcPts val="1342"/>
              </a:lnSpc>
            </a:pPr>
            <a:r>
              <a:rPr lang="en-US" sz="1100">
                <a:solidFill>
                  <a:srgbClr val="232D37"/>
                </a:solidFill>
                <a:latin typeface="Cambria"/>
                <a:ea typeface="Cambria"/>
                <a:cs typeface="Cambria"/>
                <a:sym typeface="Cambria"/>
              </a:rPr>
              <a:t> minor errors	Limited debugging approach; requires    </a:t>
            </a:r>
          </a:p>
          <a:p>
            <a:pPr algn="l">
              <a:lnSpc>
                <a:spcPts val="1342"/>
              </a:lnSpc>
            </a:pPr>
          </a:p>
          <a:p>
            <a:pPr algn="l">
              <a:lnSpc>
                <a:spcPts val="1342"/>
              </a:lnSpc>
            </a:pPr>
            <a:r>
              <a:rPr lang="en-US" sz="1100">
                <a:solidFill>
                  <a:srgbClr val="232D37"/>
                </a:solidFill>
                <a:latin typeface="Cambria"/>
                <a:ea typeface="Cambria"/>
                <a:cs typeface="Cambria"/>
                <a:sym typeface="Cambria"/>
              </a:rPr>
              <a:t>Unable to debug or resolve issues</a:t>
            </a:r>
          </a:p>
          <a:p>
            <a:pPr algn="l">
              <a:lnSpc>
                <a:spcPts val="1342"/>
              </a:lnSpc>
            </a:pPr>
            <a:r>
              <a:rPr lang="en-US" sz="1100">
                <a:solidFill>
                  <a:srgbClr val="232D37"/>
                </a:solidFill>
                <a:latin typeface="Cambria"/>
                <a:ea typeface="Cambria"/>
                <a:cs typeface="Cambria"/>
                <a:sym typeface="Cambria"/>
              </a:rPr>
              <a:t>Clear justification </a:t>
            </a:r>
          </a:p>
          <a:p>
            <a:pPr algn="l">
              <a:lnSpc>
                <a:spcPts val="1342"/>
              </a:lnSpc>
            </a:pPr>
          </a:p>
          <a:p>
            <a:pPr algn="l">
              <a:lnSpc>
                <a:spcPts val="1342"/>
              </a:lnSpc>
            </a:pPr>
          </a:p>
          <a:p>
            <a:pPr algn="l" rtl="true">
              <a:lnSpc>
                <a:spcPts val="1028"/>
              </a:lnSpc>
            </a:pPr>
          </a:p>
          <a:p>
            <a:pPr algn="l">
              <a:lnSpc>
                <a:spcPts val="1285"/>
              </a:lnSpc>
            </a:pPr>
            <a:r>
              <a:rPr lang="en-US" sz="1100">
                <a:solidFill>
                  <a:srgbClr val="232D37"/>
                </a:solidFill>
                <a:latin typeface="Cambria"/>
                <a:ea typeface="Cambria"/>
                <a:cs typeface="Cambria"/>
                <a:sym typeface="Cambria"/>
              </a:rPr>
              <a:t>Writes error- free code with correct syntax and semantics</a:t>
            </a:r>
            <a:r>
              <a:rPr lang="en-US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</a:p>
          <a:p>
            <a:pPr algn="l" rtl="true">
              <a:lnSpc>
                <a:spcPts val="1285"/>
              </a:lnSpc>
            </a:pPr>
          </a:p>
          <a:p>
            <a:pPr algn="l">
              <a:lnSpc>
                <a:spcPts val="1285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3948179" y="647214"/>
            <a:ext cx="682542" cy="158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4"/>
              </a:lnSpc>
            </a:pPr>
            <a:r>
              <a:rPr lang="en-US" sz="1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Proficient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082283" y="647214"/>
            <a:ext cx="773220" cy="158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4"/>
              </a:lnSpc>
            </a:pPr>
            <a:r>
              <a:rPr lang="en-US" sz="1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Developing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948179" y="1228239"/>
            <a:ext cx="934479" cy="49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3"/>
              </a:lnSpc>
            </a:pPr>
            <a:r>
              <a:rPr lang="en-US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Identify most error with minor maps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082283" y="1228239"/>
            <a:ext cx="1034653" cy="49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3"/>
              </a:lnSpc>
            </a:pPr>
            <a:r>
              <a:rPr lang="en-US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Identify some error but misses key issues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948179" y="1974618"/>
            <a:ext cx="1047331" cy="1784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5"/>
              </a:lnSpc>
            </a:pPr>
            <a:r>
              <a:rPr lang="en-US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Use apoprate dubbing methods with minor mirror errors</a:t>
            </a:r>
          </a:p>
          <a:p>
            <a:pPr algn="l">
              <a:lnSpc>
                <a:spcPts val="1295"/>
              </a:lnSpc>
            </a:pPr>
          </a:p>
          <a:p>
            <a:pPr algn="l">
              <a:lnSpc>
                <a:spcPts val="1295"/>
              </a:lnSpc>
            </a:pPr>
          </a:p>
          <a:p>
            <a:pPr algn="l">
              <a:lnSpc>
                <a:spcPts val="1295"/>
              </a:lnSpc>
            </a:pPr>
          </a:p>
          <a:p>
            <a:pPr algn="l">
              <a:lnSpc>
                <a:spcPts val="1295"/>
              </a:lnSpc>
            </a:pPr>
            <a:r>
              <a:rPr lang="en-US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Improve time complexity with minor mirror gaps in efficiency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082283" y="2222268"/>
            <a:ext cx="992467" cy="327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2"/>
              </a:lnSpc>
            </a:pPr>
            <a:r>
              <a:rPr lang="en-US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Limited debbing approach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082283" y="3213249"/>
            <a:ext cx="1018261" cy="49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3"/>
              </a:lnSpc>
            </a:pPr>
            <a:r>
              <a:rPr lang="en-US" sz="1100" spc="1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Limited improvement in time complexity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948179" y="4207278"/>
            <a:ext cx="1022585" cy="489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2"/>
              </a:lnSpc>
            </a:pPr>
            <a:r>
              <a:rPr lang="en-US" sz="1100" spc="1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Show reasonable analysis justification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082283" y="4207278"/>
            <a:ext cx="1006392" cy="489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2"/>
              </a:lnSpc>
            </a:pPr>
            <a:r>
              <a:rPr lang="en-US" sz="1100" spc="1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Limited analysis;weak reasoning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082283" y="5033039"/>
            <a:ext cx="962835" cy="651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7"/>
              </a:lnSpc>
            </a:pPr>
            <a:r>
              <a:rPr lang="en-US" sz="1100" spc="1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Code lack structure and proper documentation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948179" y="5115582"/>
            <a:ext cx="879043" cy="652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4"/>
              </a:lnSpc>
            </a:pPr>
            <a:r>
              <a:rPr lang="en-US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Code is clearly minor documentation mapps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703195" y="6433842"/>
            <a:ext cx="2441829" cy="195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b="true" sz="1100">
                <a:solidFill>
                  <a:srgbClr val="17365D"/>
                </a:solidFill>
                <a:latin typeface="Cambria Bold"/>
                <a:ea typeface="Cambria Bold"/>
                <a:cs typeface="Cambria Bold"/>
                <a:sym typeface="Cambria Bold"/>
              </a:rPr>
              <a:t>FACULTY EVALUATION / SIGNATURE</a:t>
            </a:r>
            <a:r>
              <a:rPr lang="en-US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827020" y="6687845"/>
            <a:ext cx="1479604" cy="665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1"/>
              </a:lnSpc>
            </a:pPr>
            <a:r>
              <a:rPr lang="en-US" b="true" sz="110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Course Coordinator</a:t>
            </a:r>
            <a:r>
              <a:rPr lang="en-US" sz="1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</a:p>
          <a:p>
            <a:pPr algn="l" rtl="true">
              <a:lnSpc>
                <a:spcPts val="1301"/>
              </a:lnSpc>
            </a:pPr>
          </a:p>
          <a:p>
            <a:pPr algn="l">
              <a:lnSpc>
                <a:spcPts val="1301"/>
              </a:lnSpc>
            </a:pPr>
            <a:r>
              <a:rPr lang="en-US" sz="1100">
                <a:solidFill>
                  <a:srgbClr val="232D37"/>
                </a:solidFill>
                <a:latin typeface="Cambria"/>
                <a:ea typeface="Cambria"/>
                <a:cs typeface="Cambria"/>
                <a:sym typeface="Cambria"/>
              </a:rPr>
              <a:t>Signature: _______________ Date: ___________________</a:t>
            </a:r>
            <a:r>
              <a:rPr lang="en-US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085331" y="6687845"/>
            <a:ext cx="1479604" cy="665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1"/>
              </a:lnSpc>
            </a:pPr>
            <a:r>
              <a:rPr lang="en-US" b="true" sz="110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Program Director</a:t>
            </a:r>
            <a:r>
              <a:rPr lang="en-US" sz="1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</a:p>
          <a:p>
            <a:pPr algn="l" rtl="true">
              <a:lnSpc>
                <a:spcPts val="1301"/>
              </a:lnSpc>
            </a:pPr>
          </a:p>
          <a:p>
            <a:pPr algn="l">
              <a:lnSpc>
                <a:spcPts val="1301"/>
              </a:lnSpc>
            </a:pPr>
            <a:r>
              <a:rPr lang="en-US" sz="1100">
                <a:solidFill>
                  <a:srgbClr val="232D37"/>
                </a:solidFill>
                <a:latin typeface="Cambria"/>
                <a:ea typeface="Cambria"/>
                <a:cs typeface="Cambria"/>
                <a:sym typeface="Cambria"/>
              </a:rPr>
              <a:t>Signature: _______________ Date: ___________________</a:t>
            </a:r>
            <a:r>
              <a:rPr lang="en-US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209662" y="647214"/>
            <a:ext cx="695630" cy="158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4"/>
              </a:lnSpc>
            </a:pPr>
            <a:r>
              <a:rPr lang="en-US" sz="1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Begining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209662" y="4207278"/>
            <a:ext cx="953424" cy="489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2"/>
              </a:lnSpc>
            </a:pPr>
            <a:r>
              <a:rPr lang="en-US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No analytical reasoning demonstrated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209662" y="1310792"/>
            <a:ext cx="1032300" cy="491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7"/>
              </a:lnSpc>
            </a:pPr>
            <a:r>
              <a:rPr lang="en-US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Unable to identify error correctly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209662" y="5188610"/>
            <a:ext cx="1048493" cy="497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3"/>
              </a:lnSpc>
            </a:pPr>
            <a:r>
              <a:rPr lang="en-US" sz="1100" spc="2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Parely written with no documentation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209662" y="3121181"/>
            <a:ext cx="1018261" cy="65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0"/>
              </a:lnSpc>
            </a:pPr>
            <a:r>
              <a:rPr lang="en-US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No improvement identificant approach retained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209662" y="2222268"/>
            <a:ext cx="1051731" cy="489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2"/>
              </a:lnSpc>
            </a:pPr>
            <a:r>
              <a:rPr lang="en-US" sz="1100" spc="1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Unable to debbing or resolve issues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DAHUDNuaoek</dc:identifier>
  <dcterms:modified xsi:type="dcterms:W3CDTF">2011-08-01T06:04:30Z</dcterms:modified>
  <cp:revision>1</cp:revision>
  <dc:title>Copy of CO2_AT1_Level1.pdf</dc:title>
</cp:coreProperties>
</file>